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Content adapted from the user's uploaded LUMA HTML report in this conversation.
- All visual mockups in this deck were created for this presentation and are not externally sourced.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image" Target="../media/image27.png"/><Relationship Id="rId26" Type="http://schemas.openxmlformats.org/officeDocument/2006/relationships/image" Target="../media/image28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048" y="310896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FDBA74"/>
          </a:solidFill>
          <a:ln w="12700">
            <a:solidFill>
              <a:srgbClr val="FDBA7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361188"/>
            <a:ext cx="11338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CAPSTONE DEFENSE PRESENTATION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75488" y="82296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LUMA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75488" y="1627632"/>
            <a:ext cx="3566160" cy="10789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Online Event Management and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Ticketing Platform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75488" y="2816352"/>
            <a:ext cx="363931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2916936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roles · 15 function groups · 27 features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5488" y="333756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Boot · React · Flutter · SQL Server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502920" y="3959352"/>
            <a:ext cx="1024128" cy="256032"/>
          </a:xfrm>
          <a:prstGeom prst="roundRect">
            <a:avLst>
              <a:gd name="adj" fmla="val 4285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977640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655064" y="3959352"/>
            <a:ext cx="1024128" cy="256032"/>
          </a:xfrm>
          <a:prstGeom prst="roundRect">
            <a:avLst>
              <a:gd name="adj" fmla="val 4285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00784" y="3977640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ORGANISER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807208" y="3959352"/>
            <a:ext cx="1024128" cy="256032"/>
          </a:xfrm>
          <a:prstGeom prst="roundRect">
            <a:avLst>
              <a:gd name="adj" fmla="val 4285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52928" y="3977640"/>
            <a:ext cx="9326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488" y="541324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5 · Huy · Khoa · Khanh · Trinh · Duy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475488" y="5705856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English condensed deck adapted from the original report, designed for a clearer defense presentation.</a:t>
            </a:r>
            <a:endParaRPr lang="en-US" sz="84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420000">
            <a:off x="6812280" y="914400"/>
            <a:ext cx="1325880" cy="452628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6448" y="768096"/>
            <a:ext cx="1417320" cy="480060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420000">
            <a:off x="9637776" y="1024128"/>
            <a:ext cx="1261872" cy="43342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60720" y="987552"/>
            <a:ext cx="0" cy="4480560"/>
          </a:xfrm>
          <a:prstGeom prst="line">
            <a:avLst/>
          </a:prstGeom>
          <a:noFill/>
          <a:ln w="13970">
            <a:solidFill>
              <a:srgbClr val="FDBA74">
                <a:alpha val="75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73952" y="57150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i="1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stronger first impression: fewer words, clearer hierarchy, and more visual emphasis for the opening slide.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11475720" y="1371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4B8A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LUMA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&amp;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LUMA brings the full event workflow into one unified platform.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22960" y="1353312"/>
            <a:ext cx="914400" cy="201168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719072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737360"/>
            <a:ext cx="1389888" cy="274320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Create events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304288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1F7"/>
          </a:solidFill>
          <a:ln w="12700">
            <a:solidFill>
              <a:srgbClr val="FFF1F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322576"/>
            <a:ext cx="1389888" cy="274320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55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Sell tickets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889504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EFFAF5"/>
          </a:solidFill>
          <a:ln w="12700">
            <a:solidFill>
              <a:srgbClr val="EFFA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907792"/>
            <a:ext cx="1389888" cy="274320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Send emails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3474720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493008"/>
            <a:ext cx="1389888" cy="274320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 surveys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2286000"/>
            <a:ext cx="384048" cy="585216"/>
          </a:xfrm>
          <a:prstGeom prst="chevron">
            <a:avLst/>
          </a:prstGeom>
          <a:solidFill>
            <a:srgbClr val="5B5CEB"/>
          </a:solidFill>
          <a:ln w="12700">
            <a:solidFill>
              <a:srgbClr val="5B5CEB">
                <a:alpha val="0"/>
              </a:srgbClr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8688" y="1353312"/>
            <a:ext cx="3767328" cy="3291840"/>
          </a:xfrm>
          <a:prstGeom prst="rect">
            <a:avLst/>
          </a:prstGeom>
          <a:ln w="19050">
            <a:solidFill>
              <a:srgbClr val="14B8A6"/>
            </a:solidFill>
          </a:ln>
        </p:spPr>
      </p:pic>
      <p:sp>
        <p:nvSpPr>
          <p:cNvPr id="16" name="Shape 13"/>
          <p:cNvSpPr/>
          <p:nvPr/>
        </p:nvSpPr>
        <p:spPr>
          <a:xfrm>
            <a:off x="7498080" y="1280160"/>
            <a:ext cx="40690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1700784"/>
            <a:ext cx="3456432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LUMA solves the fragmentation problem by combining event creation, ticketing, engagement and admin control in one system.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7818120" y="27432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F76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main roles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7818120" y="2999232"/>
            <a:ext cx="1060704" cy="256032"/>
          </a:xfrm>
          <a:prstGeom prst="roundRect">
            <a:avLst>
              <a:gd name="adj" fmla="val 4285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0" y="3017520"/>
            <a:ext cx="9692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988552" y="2999232"/>
            <a:ext cx="1060704" cy="256032"/>
          </a:xfrm>
          <a:prstGeom prst="roundRect">
            <a:avLst>
              <a:gd name="adj" fmla="val 4285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34272" y="3017520"/>
            <a:ext cx="9692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ORGANISER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158984" y="2999232"/>
            <a:ext cx="1060704" cy="256032"/>
          </a:xfrm>
          <a:prstGeom prst="roundRect">
            <a:avLst>
              <a:gd name="adj" fmla="val 4285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04704" y="3017520"/>
            <a:ext cx="96926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818120" y="3858768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platform means a smoother attendee journey and easier operations for organisers and admins.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11475720" y="1371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LUMA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Platform &amp; System Scale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full-stack capstone with backend, admin panel and mobile web.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987552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14264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b="1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 FILES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929384" y="987552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9384" y="109728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02536" y="14264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b="1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DB TABLES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72968" y="987552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09728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46120" y="14264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b="1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CONTROLLERS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16552" y="987552"/>
            <a:ext cx="1060704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109728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89704" y="14264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b="1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 PAGES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13232" y="19659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1E3A8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stack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85800" y="2194560"/>
            <a:ext cx="33375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2286000"/>
            <a:ext cx="128016" cy="292608"/>
          </a:xfrm>
          <a:prstGeom prst="roundRect">
            <a:avLst>
              <a:gd name="adj" fmla="val 5714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26771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960120" y="2414016"/>
            <a:ext cx="299008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Boot 3.4 · Java 21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85800" y="2743200"/>
            <a:ext cx="33375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2834640"/>
            <a:ext cx="128016" cy="292608"/>
          </a:xfrm>
          <a:prstGeom prst="roundRect">
            <a:avLst>
              <a:gd name="adj" fmla="val 5714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281635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960120" y="2962656"/>
            <a:ext cx="299008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18 · Material UI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85800" y="3291840"/>
            <a:ext cx="33375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" y="3383280"/>
            <a:ext cx="128016" cy="292608"/>
          </a:xfrm>
          <a:prstGeom prst="roundRect">
            <a:avLst>
              <a:gd name="adj" fmla="val 5714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36499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Web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960120" y="3511296"/>
            <a:ext cx="299008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Flutter Web · Riverpod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85800" y="3840480"/>
            <a:ext cx="33375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" y="3931920"/>
            <a:ext cx="128016" cy="292608"/>
          </a:xfrm>
          <a:prstGeom prst="roundRect">
            <a:avLst>
              <a:gd name="adj" fmla="val 5714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91363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Database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960120" y="4059936"/>
            <a:ext cx="299008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 Server · 57 tables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85800" y="4389120"/>
            <a:ext cx="33375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" y="4480560"/>
            <a:ext cx="128016" cy="292608"/>
          </a:xfrm>
          <a:prstGeom prst="roundRect">
            <a:avLst>
              <a:gd name="adj" fmla="val 5714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46227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Integrations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960120" y="4608576"/>
            <a:ext cx="299008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Stripe · Cloudinary · Groq AI</a:t>
            </a:r>
            <a:endParaRPr lang="en-US" sz="94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4960" y="1325880"/>
            <a:ext cx="54406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11475720" y="1371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B5C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LUMA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8D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Division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member owns a clear value cluster, making the defense presentation more coherent.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86384" y="1051560"/>
            <a:ext cx="7452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252728"/>
            <a:ext cx="603504" cy="237744"/>
          </a:xfrm>
          <a:prstGeom prst="roundRect">
            <a:avLst>
              <a:gd name="adj" fmla="val 4615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271016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Huy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1810512" y="117043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D28D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Interaction &amp; Experience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810512" y="1389888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Chat · AI Bot · Poll · Review · Certificate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6384" y="1993392"/>
            <a:ext cx="7452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194560"/>
            <a:ext cx="603504" cy="237744"/>
          </a:xfrm>
          <a:prstGeom prst="roundRect">
            <a:avLst>
              <a:gd name="adj" fmla="val 4615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12848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Khoa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810512" y="211226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D28D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Operations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810512" y="233172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creation · Gallery · Schedule · Approval · AI content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6384" y="2935224"/>
            <a:ext cx="7452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136392"/>
            <a:ext cx="603504" cy="237744"/>
          </a:xfrm>
          <a:prstGeom prst="roundRect">
            <a:avLst>
              <a:gd name="adj" fmla="val 4615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154680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Khanh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810512" y="3054096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D28D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Registration &amp; Payment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810512" y="3273552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Explore · Tickets · Coupons · Stripe · QR check-in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6384" y="3877056"/>
            <a:ext cx="7452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078224"/>
            <a:ext cx="603504" cy="237744"/>
          </a:xfrm>
          <a:prstGeom prst="roundRect">
            <a:avLst>
              <a:gd name="adj" fmla="val 4615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096512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Trinh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1810512" y="399592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D28D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Platform Core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1810512" y="4215384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 · Profile · Users · Organisers · Categories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6384" y="4818888"/>
            <a:ext cx="74523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020056"/>
            <a:ext cx="603504" cy="237744"/>
          </a:xfrm>
          <a:prstGeom prst="roundRect">
            <a:avLst>
              <a:gd name="adj" fmla="val 4615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038344"/>
            <a:ext cx="51206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Duy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1810512" y="49377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D28D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Operations &amp; Growth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1810512" y="5157216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Dashboard · Revenue · Boost · Subscription · Funnel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549640" y="1024128"/>
            <a:ext cx="2697480" cy="4526280"/>
          </a:xfrm>
          <a:prstGeom prst="roundRect">
            <a:avLst>
              <a:gd name="adj" fmla="val 4068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5672" y="1335024"/>
            <a:ext cx="2176272" cy="34747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823960" y="498348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 b="1">
                <a:solidFill>
                  <a:srgbClr val="4C1D9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Five owners, five clearly defined value areas.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016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00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" y="1097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E22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338328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Interaction &amp; Experience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11109960" y="137160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581C87"/>
          </a:solidFill>
          <a:ln w="12700">
            <a:solidFill>
              <a:srgbClr val="581C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0" y="155448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 min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" y="1042416"/>
            <a:ext cx="1828800" cy="3977640"/>
          </a:xfrm>
          <a:prstGeom prst="roundRect">
            <a:avLst>
              <a:gd name="adj" fmla="val 4000"/>
            </a:avLst>
          </a:prstGeom>
          <a:solidFill>
            <a:srgbClr val="581C87"/>
          </a:solidFill>
          <a:ln w="12700">
            <a:solidFill>
              <a:srgbClr val="581C8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426464"/>
            <a:ext cx="1261872" cy="32735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80360" y="1078992"/>
            <a:ext cx="1600200" cy="164592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groups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2852928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889504" y="1408176"/>
            <a:ext cx="1463040" cy="21945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Realtime Chat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08576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45152" y="1408176"/>
            <a:ext cx="1463040" cy="21945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Chatbot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64224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00800" y="1408176"/>
            <a:ext cx="1463040" cy="21945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852928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889504" y="1819656"/>
            <a:ext cx="1463040" cy="21945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Google Calendar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08576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645152" y="1819656"/>
            <a:ext cx="1463040" cy="21945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Poll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364224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400800" y="181965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b="1">
                <a:solidFill>
                  <a:srgbClr val="7E22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Reviews &amp; Certificates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907792" y="233172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7E22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Highlight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7498080" y="2331720"/>
            <a:ext cx="9144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2852928" y="2542032"/>
            <a:ext cx="434340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980944" y="2651760"/>
            <a:ext cx="40873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2980944" y="2843784"/>
            <a:ext cx="4087368" cy="795528"/>
          </a:xfrm>
          <a:prstGeom prst="rect">
            <a:avLst/>
          </a:prstGeom>
          <a:solidFill>
            <a:srgbClr val="FFFFFF"/>
          </a:solidFill>
          <a:ln w="15875"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Huy owns the live, interactive layer of the product: chat, poll and notifications all feel instant thanks to WebSocket-based flows.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7443216" y="2542032"/>
            <a:ext cx="3703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71232" y="2651760"/>
            <a:ext cx="344728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Audience value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571232" y="2843784"/>
            <a:ext cx="3447288" cy="795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 b="1">
                <a:solidFill>
                  <a:srgbClr val="7E22C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Keeps attendees engaged before, during and after events while reducing the chance of missing important updates.</a:t>
            </a:r>
            <a:endParaRPr lang="en-US" sz="910" dirty="0"/>
          </a:p>
        </p:txBody>
      </p:sp>
      <p:sp>
        <p:nvSpPr>
          <p:cNvPr id="32" name="Text 29"/>
          <p:cNvSpPr/>
          <p:nvPr/>
        </p:nvSpPr>
        <p:spPr>
          <a:xfrm>
            <a:off x="2907792" y="4041648"/>
            <a:ext cx="141732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takeaway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2852928" y="4261104"/>
            <a:ext cx="8284464" cy="969264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063240" y="4535424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One-sentence takeaway: Huy makes the product feel alive and connected for the end user.</a:t>
            </a:r>
            <a:endParaRPr lang="en-US" sz="10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016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00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" y="1097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653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Khoa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338328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Operations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11109960" y="137160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0" y="155448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 min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" y="1042416"/>
            <a:ext cx="1828800" cy="3977640"/>
          </a:xfrm>
          <a:prstGeom prst="roundRect">
            <a:avLst>
              <a:gd name="adj" fmla="val 4000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426464"/>
            <a:ext cx="1261872" cy="32735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80360" y="1078992"/>
            <a:ext cx="1600200" cy="16459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groups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2852928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889504" y="1408176"/>
            <a:ext cx="1463040" cy="21945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Creation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08576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45152" y="1408176"/>
            <a:ext cx="1463040" cy="21945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Organiser Profile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64224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00800" y="1408176"/>
            <a:ext cx="1463040" cy="21945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 Gallery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852928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889504" y="1819656"/>
            <a:ext cx="1463040" cy="21945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Speakers &amp; Schedule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08576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645152" y="1819656"/>
            <a:ext cx="1463040" cy="21945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Registration Form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364224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400800" y="181965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b="1">
                <a:solidFill>
                  <a:srgbClr val="16653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Approval + AI Content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907792" y="233172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16653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Highlight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7498080" y="2331720"/>
            <a:ext cx="9144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2852928" y="2542032"/>
            <a:ext cx="434340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980944" y="2651760"/>
            <a:ext cx="40873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2980944" y="2843784"/>
            <a:ext cx="4087368" cy="795528"/>
          </a:xfrm>
          <a:prstGeom prst="rect">
            <a:avLst/>
          </a:prstGeom>
          <a:solidFill>
            <a:srgbClr val="FFFFFF"/>
          </a:solidFill>
          <a:ln w="158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Khoa owns the core event lifecycle: building the event, structuring its content, and sending it through the approval process.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7443216" y="2542032"/>
            <a:ext cx="3703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71232" y="2651760"/>
            <a:ext cx="344728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Audience value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571232" y="2843784"/>
            <a:ext cx="3447288" cy="795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 b="1">
                <a:solidFill>
                  <a:srgbClr val="16653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Transforms raw event ideas into polished, review-ready experiences that can appear professionally on Explore.</a:t>
            </a:r>
            <a:endParaRPr lang="en-US" sz="910" dirty="0"/>
          </a:p>
        </p:txBody>
      </p:sp>
      <p:sp>
        <p:nvSpPr>
          <p:cNvPr id="32" name="Text 29"/>
          <p:cNvSpPr/>
          <p:nvPr/>
        </p:nvSpPr>
        <p:spPr>
          <a:xfrm>
            <a:off x="2907792" y="4041648"/>
            <a:ext cx="141732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EF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takeaway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2852928" y="4261104"/>
            <a:ext cx="8284464" cy="969264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063240" y="4535424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One-sentence takeaway: Khoa builds the full journey from draft event to approved and visible event.</a:t>
            </a:r>
            <a:endParaRPr lang="en-US" sz="10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016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00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" y="1097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Khanh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338328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Registration &amp; Payment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11109960" y="137160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0" y="155448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 min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" y="1042416"/>
            <a:ext cx="1828800" cy="3977640"/>
          </a:xfrm>
          <a:prstGeom prst="roundRect">
            <a:avLst>
              <a:gd name="adj" fmla="val 4000"/>
            </a:avLst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426464"/>
            <a:ext cx="1261872" cy="32735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80360" y="1078992"/>
            <a:ext cx="1600200" cy="1645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groups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2852928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889504" y="1408176"/>
            <a:ext cx="1463040" cy="219456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Explore &amp; Compare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08576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45152" y="1408176"/>
            <a:ext cx="1463040" cy="219456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Bookmark / Follow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64224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00800" y="1408176"/>
            <a:ext cx="1463040" cy="219456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Ticket Selection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852928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889504" y="1819656"/>
            <a:ext cx="1463040" cy="219456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Registration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08576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645152" y="1819656"/>
            <a:ext cx="1463040" cy="219456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Coupons + Stripe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364224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400800" y="181965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b="1">
                <a:solidFill>
                  <a:srgbClr val="C241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QR Check-in / Transfer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907792" y="233172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C241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Highlight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7498080" y="2331720"/>
            <a:ext cx="9144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22C5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2852928" y="2542032"/>
            <a:ext cx="434340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980944" y="2651760"/>
            <a:ext cx="40873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2980944" y="2843784"/>
            <a:ext cx="4087368" cy="795528"/>
          </a:xfrm>
          <a:prstGeom prst="rect">
            <a:avLst/>
          </a:prstGeom>
          <a:solidFill>
            <a:srgbClr val="FFFFFF"/>
          </a:solidFill>
          <a:ln w="15875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Khanh owns the conversion journey from event discovery to paid registration and issued ticket.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7443216" y="2542032"/>
            <a:ext cx="3703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71232" y="2651760"/>
            <a:ext cx="344728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Audience value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571232" y="2843784"/>
            <a:ext cx="3447288" cy="795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 b="1">
                <a:solidFill>
                  <a:srgbClr val="C241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Direct revenue layer with coupons, Stripe payment flow, webhook handling, refunds and QR-based entry.</a:t>
            </a:r>
            <a:endParaRPr lang="en-US" sz="910" dirty="0"/>
          </a:p>
        </p:txBody>
      </p:sp>
      <p:sp>
        <p:nvSpPr>
          <p:cNvPr id="32" name="Text 29"/>
          <p:cNvSpPr/>
          <p:nvPr/>
        </p:nvSpPr>
        <p:spPr>
          <a:xfrm>
            <a:off x="2907792" y="4041648"/>
            <a:ext cx="141732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22C5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takeaway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2852928" y="4261104"/>
            <a:ext cx="8284464" cy="969264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063240" y="4535424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One-sentence takeaway: Khanh handles the full flow from discovery → registration → payment → check-in.</a:t>
            </a:r>
            <a:endParaRPr lang="en-US" sz="10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016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00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" y="1097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Trinh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338328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Platform Core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11109960" y="137160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0" y="155448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 min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" y="1042416"/>
            <a:ext cx="1828800" cy="397764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426464"/>
            <a:ext cx="1261872" cy="32735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80360" y="1078992"/>
            <a:ext cx="1600200" cy="1645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groups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2852928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889504" y="1408176"/>
            <a:ext cx="1463040" cy="2194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 + Google OAuth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08576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45152" y="1408176"/>
            <a:ext cx="1463040" cy="2194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Profile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64224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00800" y="1408176"/>
            <a:ext cx="1463040" cy="2194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 Users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852928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889504" y="1819656"/>
            <a:ext cx="1463040" cy="2194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 Organisers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08576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645152" y="1819656"/>
            <a:ext cx="1463040" cy="2194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Categories &amp; Cities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364224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400800" y="181965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b="1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Shared Data Layer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907792" y="233172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Highlight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7498080" y="2331720"/>
            <a:ext cx="9144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2852928" y="2542032"/>
            <a:ext cx="434340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980944" y="2651760"/>
            <a:ext cx="40873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2980944" y="2843784"/>
            <a:ext cx="4087368" cy="795528"/>
          </a:xfrm>
          <a:prstGeom prst="rect">
            <a:avLst/>
          </a:prstGeom>
          <a:solidFill>
            <a:srgbClr val="FFFFFF"/>
          </a:solidFill>
          <a:ln w="15875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Trinh builds the foundation: identity, permissions, profiles and common platform data shared across the system.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7443216" y="2542032"/>
            <a:ext cx="3703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71232" y="2651760"/>
            <a:ext cx="344728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Audience value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571232" y="2843784"/>
            <a:ext cx="3447288" cy="795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 b="1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Makes the platform scalable, secure and manageable instead of depending on hard-coded logic.</a:t>
            </a:r>
            <a:endParaRPr lang="en-US" sz="910" dirty="0"/>
          </a:p>
        </p:txBody>
      </p:sp>
      <p:sp>
        <p:nvSpPr>
          <p:cNvPr id="32" name="Text 29"/>
          <p:cNvSpPr/>
          <p:nvPr/>
        </p:nvSpPr>
        <p:spPr>
          <a:xfrm>
            <a:off x="2907792" y="4041648"/>
            <a:ext cx="141732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takeaway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2852928" y="4261104"/>
            <a:ext cx="8284464" cy="969264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063240" y="4535424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One-sentence takeaway: Trinh builds the backbone that lets all higher-level features run safely and cleanly.</a:t>
            </a:r>
            <a:endParaRPr lang="en-US" sz="10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016">
            <a:solidFill>
              <a:srgbClr val="EAB3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46304"/>
            <a:ext cx="292608" cy="29260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00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" y="1097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54D0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338328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Operations &amp; Growth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11109960" y="137160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713F12"/>
          </a:solidFill>
          <a:ln w="12700">
            <a:solidFill>
              <a:srgbClr val="713F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0" y="155448"/>
            <a:ext cx="62179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~6 min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" y="1042416"/>
            <a:ext cx="1828800" cy="3977640"/>
          </a:xfrm>
          <a:prstGeom prst="roundRect">
            <a:avLst>
              <a:gd name="adj" fmla="val 4000"/>
            </a:avLst>
          </a:prstGeom>
          <a:solidFill>
            <a:srgbClr val="713F12"/>
          </a:solidFill>
          <a:ln w="12700">
            <a:solidFill>
              <a:srgbClr val="713F1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1426464"/>
            <a:ext cx="1261872" cy="32735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80360" y="1078992"/>
            <a:ext cx="1600200" cy="164592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groups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2852928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889504" y="1408176"/>
            <a:ext cx="1463040" cy="219456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Dashboards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08576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45152" y="1408176"/>
            <a:ext cx="1463040" cy="219456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Revenue / Commission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364224" y="138988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400800" y="1408176"/>
            <a:ext cx="1463040" cy="219456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Event Boost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852928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889504" y="1819656"/>
            <a:ext cx="1463040" cy="219456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Subscription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08576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645152" y="1819656"/>
            <a:ext cx="1463040" cy="219456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Excel / PDF Export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364224" y="1801368"/>
            <a:ext cx="1536192" cy="256032"/>
          </a:xfrm>
          <a:prstGeom prst="roundRect">
            <a:avLst>
              <a:gd name="adj" fmla="val 35714"/>
            </a:avLst>
          </a:prstGeom>
          <a:solidFill>
            <a:srgbClr val="F8FB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400800" y="1819656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b="1">
                <a:solidFill>
                  <a:srgbClr val="854D0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Funnel Analytics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907792" y="233172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854D0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Highlight</a:t>
            </a:r>
            <a:endParaRPr lang="en-US" sz="810" dirty="0"/>
          </a:p>
        </p:txBody>
      </p:sp>
      <p:sp>
        <p:nvSpPr>
          <p:cNvPr id="25" name="Text 22"/>
          <p:cNvSpPr/>
          <p:nvPr/>
        </p:nvSpPr>
        <p:spPr>
          <a:xfrm>
            <a:off x="7498080" y="2331720"/>
            <a:ext cx="9144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7C4D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</a:t>
            </a:r>
            <a:endParaRPr lang="en-US" sz="810" dirty="0"/>
          </a:p>
        </p:txBody>
      </p:sp>
      <p:sp>
        <p:nvSpPr>
          <p:cNvPr id="26" name="Shape 23"/>
          <p:cNvSpPr/>
          <p:nvPr/>
        </p:nvSpPr>
        <p:spPr>
          <a:xfrm>
            <a:off x="2852928" y="2542032"/>
            <a:ext cx="434340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980944" y="2651760"/>
            <a:ext cx="408736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message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2980944" y="2843784"/>
            <a:ext cx="4087368" cy="795528"/>
          </a:xfrm>
          <a:prstGeom prst="rect">
            <a:avLst/>
          </a:prstGeom>
          <a:solidFill>
            <a:srgbClr val="FFFFFF"/>
          </a:solidFill>
          <a:ln w="15875"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Duy brings the business operations perspective: measurement, monetization and growth tools for the platform.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7443216" y="2542032"/>
            <a:ext cx="370332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71232" y="2651760"/>
            <a:ext cx="344728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Audience value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571232" y="2843784"/>
            <a:ext cx="3447288" cy="795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 b="1">
                <a:solidFill>
                  <a:srgbClr val="854D0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Dashboards, boost packages, subscriptions and funnel analytics turn the system into an operational business product.</a:t>
            </a:r>
            <a:endParaRPr lang="en-US" sz="910" dirty="0"/>
          </a:p>
        </p:txBody>
      </p:sp>
      <p:sp>
        <p:nvSpPr>
          <p:cNvPr id="32" name="Text 29"/>
          <p:cNvSpPr/>
          <p:nvPr/>
        </p:nvSpPr>
        <p:spPr>
          <a:xfrm>
            <a:off x="2907792" y="4041648"/>
            <a:ext cx="141732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EAB308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7C4D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takeaway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2852928" y="4261104"/>
            <a:ext cx="8284464" cy="969264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063240" y="4535424"/>
            <a:ext cx="7818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One-sentence takeaway: Duy turns the platform from “working software” into something that can operate and grow.</a:t>
            </a:r>
            <a:endParaRPr lang="en-US" sz="10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11475720" y="1371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4B8A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LUMA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5-Minute Demo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Show the end-to-end business flow so examiners can see how the parts connect.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41248" y="1143000"/>
            <a:ext cx="4663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234440"/>
            <a:ext cx="4297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5E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Sign in with 3 roles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841248" y="1645920"/>
            <a:ext cx="4663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297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5E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Organiser creates event + speaker + ticket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841248" y="2148840"/>
            <a:ext cx="4663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40280"/>
            <a:ext cx="4297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5E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Admin approves the event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41248" y="2651760"/>
            <a:ext cx="4663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43200"/>
            <a:ext cx="4297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5E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User selects ticket + coupon + Stripe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41248" y="3154680"/>
            <a:ext cx="4663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46120"/>
            <a:ext cx="4297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5E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User receives the QR ticket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41248" y="3657600"/>
            <a:ext cx="4663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49040"/>
            <a:ext cx="4297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5E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Chat and vote in a poll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41248" y="4160520"/>
            <a:ext cx="4663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51960"/>
            <a:ext cx="4297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15E5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Admin reviews dashboard + export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41248" y="4919472"/>
            <a:ext cx="4663440" cy="347472"/>
          </a:xfrm>
          <a:prstGeom prst="roundRect">
            <a:avLst>
              <a:gd name="adj" fmla="val 21053"/>
            </a:avLst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5029200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tip: Use Stripe test card 4242 4242 4242 4242 to illustrate payment.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6446520" y="1042416"/>
            <a:ext cx="44805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6510">
            <a:solidFill>
              <a:srgbClr val="22C55E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6288" y="1389888"/>
            <a:ext cx="3611880" cy="3063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12280" y="4608576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33415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order helps the committee see the product as one connected business system rather than isolated features.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1365" cy="109728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11475720" y="1371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366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LUMA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01752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33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30-Minute Presentation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About 6 minutes per member, followed by joint Q&amp;A.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960120"/>
            <a:ext cx="4983480" cy="4462272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6510">
            <a:solidFill>
              <a:srgbClr val="6366F1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005840" y="1261872"/>
            <a:ext cx="658368" cy="256032"/>
          </a:xfrm>
          <a:prstGeom prst="roundRect">
            <a:avLst>
              <a:gd name="adj" fmla="val 4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051560" y="1280160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0:00</a:t>
            </a:r>
            <a:endParaRPr lang="en-US" sz="8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901952" y="130759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433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Huy</a:t>
            </a:r>
            <a:endParaRPr lang="en-US" sz="96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852928" y="1307592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cluster for this member</a:t>
            </a:r>
            <a:endParaRPr lang="en-US" sz="81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1005840" y="1874520"/>
            <a:ext cx="658368" cy="256032"/>
          </a:xfrm>
          <a:prstGeom prst="roundRect">
            <a:avLst>
              <a:gd name="adj" fmla="val 4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1051560" y="1892808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6:00</a:t>
            </a:r>
            <a:endParaRPr lang="en-US" sz="8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1901952" y="1920240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433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Khoa</a:t>
            </a:r>
            <a:endParaRPr lang="en-US" sz="96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852928" y="1920240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cluster for this member</a:t>
            </a:r>
            <a:endParaRPr lang="en-US" sz="81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1005840" y="2487168"/>
            <a:ext cx="658368" cy="256032"/>
          </a:xfrm>
          <a:prstGeom prst="roundRect">
            <a:avLst>
              <a:gd name="adj" fmla="val 4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1051560" y="250545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12:00</a:t>
            </a:r>
            <a:endParaRPr lang="en-US" sz="8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1901952" y="253288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433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Khanh</a:t>
            </a:r>
            <a:endParaRPr lang="en-US" sz="96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2852928" y="2532888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cluster for this member</a:t>
            </a:r>
            <a:endParaRPr lang="en-US" sz="81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1005840" y="3099816"/>
            <a:ext cx="658368" cy="256032"/>
          </a:xfrm>
          <a:prstGeom prst="roundRect">
            <a:avLst>
              <a:gd name="adj" fmla="val 4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1051560" y="311810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18:00</a:t>
            </a:r>
            <a:endParaRPr lang="en-US" sz="8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1901952" y="3145536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433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Trinh</a:t>
            </a:r>
            <a:endParaRPr lang="en-US" sz="96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2852928" y="3145536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cluster for this member</a:t>
            </a:r>
            <a:endParaRPr lang="en-US" sz="810" dirty="0"/>
          </a:p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1005840" y="3712464"/>
            <a:ext cx="658368" cy="256032"/>
          </a:xfrm>
          <a:prstGeom prst="roundRect">
            <a:avLst>
              <a:gd name="adj" fmla="val 4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1051560" y="373075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24:00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1901952" y="3758184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433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Duy</a:t>
            </a:r>
            <a:endParaRPr lang="en-US" sz="96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2852928" y="3758184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feature cluster for this member</a:t>
            </a:r>
            <a:endParaRPr lang="en-US" sz="810" dirty="0"/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1005840" y="4325112"/>
            <a:ext cx="658368" cy="256032"/>
          </a:xfrm>
          <a:prstGeom prst="roundRect">
            <a:avLst>
              <a:gd name="adj" fmla="val 4285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2"/>
            </p:custDataLst>
          </p:nvPr>
        </p:nvSpPr>
        <p:spPr>
          <a:xfrm>
            <a:off x="1051560" y="4343400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30:00</a:t>
            </a:r>
            <a:endParaRPr lang="en-US" sz="800" dirty="0"/>
          </a:p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1901952" y="437083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4338C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Q&amp;A</a:t>
            </a:r>
            <a:endParaRPr lang="en-US" sz="96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2852928" y="4370832"/>
            <a:ext cx="23317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Whole team answers questions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6400800" y="960120"/>
            <a:ext cx="3886200" cy="3456432"/>
          </a:xfrm>
          <a:prstGeom prst="roundRect">
            <a:avLst>
              <a:gd name="adj" fmla="val 3175"/>
            </a:avLst>
          </a:prstGeom>
          <a:solidFill>
            <a:srgbClr val="E0E7FF"/>
          </a:solidFill>
          <a:ln w="15240">
            <a:solidFill>
              <a:srgbClr val="8B5CF6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626096" y="1298448"/>
            <a:ext cx="1417320" cy="2761488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8339328" y="4754880"/>
            <a:ext cx="1444752" cy="493776"/>
          </a:xfrm>
          <a:prstGeom prst="roundRect">
            <a:avLst>
              <a:gd name="adj" fmla="val 14815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39912" y="4919472"/>
            <a:ext cx="126187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the pace crisp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" y="658368"/>
            <a:ext cx="2788920" cy="347472"/>
          </a:xfrm>
          <a:prstGeom prst="roundRect">
            <a:avLst>
              <a:gd name="adj" fmla="val 21053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82880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 for your attention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" y="2377440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5 · LUMA Event Marketplace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05840" y="2670048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Huy · Khoa · Khanh · Trinh · Duy</a:t>
            </a:r>
            <a:endParaRPr lang="en-US" sz="86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9560" y="1005840"/>
            <a:ext cx="1444752" cy="3913632"/>
          </a:xfrm>
          <a:prstGeom prst="rect">
            <a:avLst/>
          </a:prstGeom>
          <a:ln>
            <a:solidFill>
              <a:srgbClr val="A855F7"/>
            </a:solidFill>
          </a:ln>
        </p:spPr>
      </p:pic>
      <p:sp>
        <p:nvSpPr>
          <p:cNvPr id="7" name="Shape 4"/>
          <p:cNvSpPr/>
          <p:nvPr/>
        </p:nvSpPr>
        <p:spPr>
          <a:xfrm>
            <a:off x="987552" y="333756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33272" y="3355848"/>
            <a:ext cx="1005840" cy="21945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12848" y="333756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FFF1F8"/>
          </a:solidFill>
          <a:ln w="12700">
            <a:solidFill>
              <a:srgbClr val="FFF1F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58568" y="3355848"/>
            <a:ext cx="1005840" cy="219456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55A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ORGANISER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438144" y="3337560"/>
            <a:ext cx="1097280" cy="256032"/>
          </a:xfrm>
          <a:prstGeom prst="roundRect">
            <a:avLst>
              <a:gd name="adj" fmla="val 428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483864" y="335584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2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3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4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5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6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7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8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9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0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1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2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3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4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5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6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7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8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19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20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21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22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23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ags/tag24.xml><?xml version="1.0" encoding="utf-8"?>
<p:tagLst xmlns:p="http://schemas.openxmlformats.org/presentationml/2006/main">
  <p:tag name="KSO_WM_DIAGRAM_VIRTUALLY_FRAME" val="{&quot;height&quot;:261.36,&quot;left&quot;:79.2,&quot;top&quot;:99.36,&quot;width&quot;:329.0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5299</Words>
  <Application>WPS Presentation</Application>
  <PresentationFormat>On-screen Show (16:9)</PresentationFormat>
  <Paragraphs>403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LUMA - English Defense Presentation</dc:title>
  <dc:creator>OpenAI</dc:creator>
  <dc:subject>LUMA English presentation</dc:subject>
  <cp:lastModifiedBy>Duy Phan</cp:lastModifiedBy>
  <cp:revision>2</cp:revision>
  <dcterms:created xsi:type="dcterms:W3CDTF">2026-04-19T08:20:00Z</dcterms:created>
  <dcterms:modified xsi:type="dcterms:W3CDTF">2026-04-19T13:14:09Z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E617831556864ECC9563834990CEE6C2_13</vt:lpwstr>
  </property>
  <property fmtid="{D5CDD505-2E9C-101B-9397-08002B2CF9AE}" pid="3" name="KSOProductBuildVer">
    <vt:lpwstr>1033-12.2.0.23196</vt:lpwstr>
  </property>
</Properties>
</file>